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 panose="020B0604020202020204" charset="0"/>
      <p:regular r:id="rId15"/>
      <p:bold r:id="rId16"/>
      <p:italic r:id="rId17"/>
      <p:boldItalic r:id="rId18"/>
    </p:embeddedFont>
    <p:embeddedFont>
      <p:font typeface="Plus Jakarta Sans" panose="020B0604020202020204" charset="0"/>
      <p:regular r:id="rId19"/>
      <p:bold r:id="rId20"/>
      <p:italic r:id="rId21"/>
      <p:boldItalic r:id="rId22"/>
    </p:embeddedFont>
    <p:embeddedFont>
      <p:font typeface="Plus Jakarta Sans SemiBold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C1CC04-FC5C-4CC0-A688-EFA2152BEFD2}">
  <a:tblStyle styleId="{53C1CC04-FC5C-4CC0-A688-EFA2152BEF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364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mailto:isaacstrypens@outlook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0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620565" y="2117377"/>
            <a:ext cx="6950868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Security </a:t>
            </a:r>
            <a:r>
              <a:rPr lang="en-US" sz="4800" b="1" i="0" u="none" strike="noStrike" cap="none" dirty="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168848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Een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geavanceerd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virtualisatie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&amp;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monitoringecosysteem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voor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een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fictief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enterprise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netwerk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("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CyberEx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").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Gerealiseerd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binnen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het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vak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Levenslang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Leren.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8175" y="4089710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5588" y="408801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53401" y="4088011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BD1D7D-C981-645E-8AD2-710CB83611FC}"/>
              </a:ext>
            </a:extLst>
          </p:cNvPr>
          <p:cNvSpPr txBox="1"/>
          <p:nvPr/>
        </p:nvSpPr>
        <p:spPr>
          <a:xfrm>
            <a:off x="3315204" y="4159449"/>
            <a:ext cx="5389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>
                <a:solidFill>
                  <a:srgbClr val="10B981"/>
                </a:solidFill>
                <a:latin typeface="Plus Jakarta Sans"/>
                <a:cs typeface="Plus Jakarta Sans"/>
              </a:rPr>
              <a:t>Isaac Strypens    |      </a:t>
            </a:r>
            <a:r>
              <a:rPr lang="nl-NL" sz="1200" b="1" dirty="0">
                <a:solidFill>
                  <a:srgbClr val="10B981"/>
                </a:solidFill>
                <a:latin typeface="Plus Jakarta Sans"/>
                <a:cs typeface="Plus Jakarta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isaacstrypens@outlook.com</a:t>
            </a:r>
            <a:r>
              <a:rPr lang="nl-NL" sz="1200" b="1" dirty="0">
                <a:solidFill>
                  <a:srgbClr val="10B981"/>
                </a:solidFill>
                <a:latin typeface="Plus Jakarta Sans"/>
                <a:cs typeface="Plus Jakarta Sans"/>
              </a:rPr>
              <a:t> 	|     </a:t>
            </a:r>
            <a:r>
              <a:rPr lang="nl-NL" sz="1200" b="1" dirty="0" err="1">
                <a:solidFill>
                  <a:srgbClr val="10B981"/>
                </a:solidFill>
                <a:latin typeface="Plus Jakarta Sans"/>
                <a:cs typeface="Plus Jakarta Sans"/>
              </a:rPr>
              <a:t>TheNewtonShow</a:t>
            </a:r>
            <a:endParaRPr lang="en-US" sz="1200" b="1" dirty="0">
              <a:solidFill>
                <a:srgbClr val="10B981"/>
              </a:solidFill>
              <a:latin typeface="Plus Jakarta Sans"/>
              <a:cs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2165"/>
            <a:ext cx="5324475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22165"/>
            <a:ext cx="5324475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76300" y="2617440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Uitgangssituatie (CyberEx)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76300" y="3036540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Een kwetsbare, ongeorganiseerde peer-to-peer werkgroepomgeving zonder enig gecentraliseerd beheer, perimeterbeveiliging of actieve log- en netwerkmonitoring.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2617440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 Doelarchitectuur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036540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Migratie naar een robuuste, multi-layered beveiligde enterprise Active Directory-domeinomgeving, beschermd door OPNsense en gemonitord via Wazuh/SIEM.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65554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14425" y="387474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Geen centrale authenticatie (gebrek aan Active Directory).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14425" y="421764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Geen firewall of segmentatie aan de internetrand.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14425" y="456054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Vatbaar voor malware en interne/externe dreigingen.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65554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819900" y="387474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Perimeter Defense: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Stateful &amp; NGFW Firewalling.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19900" y="421764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Gecentraliseerd Beheer: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Windows Server AD DC.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19900" y="456054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SIEM &amp; XDR: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Real-time monitoring en incident response.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76300" y="38747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76300" y="42176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76300" y="45605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81775" y="38747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81775" y="42176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81775" y="45605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Projectoverzicht &amp; Doelen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26902"/>
            <a:ext cx="11029950" cy="3362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" name="Google Shape;124;p15"/>
          <p:cNvGraphicFramePr/>
          <p:nvPr/>
        </p:nvGraphicFramePr>
        <p:xfrm>
          <a:off x="590550" y="2136427"/>
          <a:ext cx="11010925" cy="3343200"/>
        </p:xfrm>
        <a:graphic>
          <a:graphicData uri="http://schemas.openxmlformats.org/drawingml/2006/table">
            <a:tbl>
              <a:tblPr firstRow="1" bandRow="1">
                <a:noFill/>
                <a:tableStyleId>{53C1CC04-FC5C-4CC0-A688-EFA2152BEFD2}</a:tableStyleId>
              </a:tblPr>
              <a:tblGrid>
                <a:gridCol w="206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3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Device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F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Rol / Functie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F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IP Adres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F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Subnet Mask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F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Type Toewijzing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OPNsense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Next-Gen Firewall / Gateway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10.200.200.254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Statisch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Windows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 / DC / DNS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10.200.200.10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Statisch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Email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Interne Mailvoorziening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10.200.200.11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Statisch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Ubuntu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Web &amp; Utility Host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10.200.200.12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Statisch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Wazuh/SIEM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Centraal Security Monitoring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10.200.200.5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Statisch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Windows 10 Client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Standard User Node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10.200.200.50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DHCP / Statisch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Kali Linux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Red Team Attack Node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10.200.200.99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Statisch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5" name="Google Shape;125;p15"/>
          <p:cNvSpPr/>
          <p:nvPr/>
        </p:nvSpPr>
        <p:spPr>
          <a:xfrm>
            <a:off x="590550" y="2526952"/>
            <a:ext cx="2061269" cy="19050"/>
          </a:xfrm>
          <a:prstGeom prst="rect">
            <a:avLst/>
          </a:prstGeom>
          <a:solidFill>
            <a:srgbClr val="2432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2651819" y="2526952"/>
            <a:ext cx="2893516" cy="19050"/>
          </a:xfrm>
          <a:prstGeom prst="rect">
            <a:avLst/>
          </a:prstGeom>
          <a:solidFill>
            <a:srgbClr val="2432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545335" y="2526952"/>
            <a:ext cx="2048470" cy="19050"/>
          </a:xfrm>
          <a:prstGeom prst="rect">
            <a:avLst/>
          </a:prstGeom>
          <a:solidFill>
            <a:srgbClr val="2432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7593806" y="2526952"/>
            <a:ext cx="2163663" cy="19050"/>
          </a:xfrm>
          <a:prstGeom prst="rect">
            <a:avLst/>
          </a:prstGeom>
          <a:solidFill>
            <a:srgbClr val="2432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9757469" y="2526952"/>
            <a:ext cx="1843980" cy="19050"/>
          </a:xfrm>
          <a:prstGeom prst="rect">
            <a:avLst/>
          </a:prstGeom>
          <a:solidFill>
            <a:srgbClr val="2432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90550" y="2960340"/>
            <a:ext cx="20612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2651819" y="2960340"/>
            <a:ext cx="28935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545335" y="2960340"/>
            <a:ext cx="20484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593806" y="2960340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9757469" y="2960340"/>
            <a:ext cx="18439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590550" y="3379440"/>
            <a:ext cx="20612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2651819" y="3379440"/>
            <a:ext cx="28935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545335" y="3379440"/>
            <a:ext cx="20484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7593806" y="3379440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9757469" y="3379440"/>
            <a:ext cx="18439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590550" y="3798540"/>
            <a:ext cx="20612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2651819" y="3798540"/>
            <a:ext cx="28935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545335" y="3798540"/>
            <a:ext cx="20484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7593806" y="3798540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9757469" y="3798540"/>
            <a:ext cx="18439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590550" y="4217640"/>
            <a:ext cx="20612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651819" y="4217640"/>
            <a:ext cx="28935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5545335" y="4217640"/>
            <a:ext cx="20484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7593806" y="4217640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9757469" y="4217640"/>
            <a:ext cx="18439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590550" y="4636740"/>
            <a:ext cx="20612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2651819" y="4636740"/>
            <a:ext cx="28935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5545335" y="4636740"/>
            <a:ext cx="20484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7593806" y="4636740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9757469" y="4636740"/>
            <a:ext cx="18439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590550" y="5055840"/>
            <a:ext cx="206126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2651819" y="5055840"/>
            <a:ext cx="289351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5545335" y="5055840"/>
            <a:ext cx="20484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7593806" y="5055840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9757469" y="5055840"/>
            <a:ext cx="184398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Netwerkinventaris &amp; IP-Schema</a:t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581025" y="2388840"/>
            <a:ext cx="559069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Firewall Deployment</a:t>
            </a:r>
            <a:endParaRPr dirty="0"/>
          </a:p>
        </p:txBody>
      </p:sp>
      <p:sp>
        <p:nvSpPr>
          <p:cNvPr id="176" name="Google Shape;176;p16"/>
          <p:cNvSpPr txBox="1"/>
          <p:nvPr/>
        </p:nvSpPr>
        <p:spPr>
          <a:xfrm>
            <a:off x="581025" y="2807940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Implementatie van een stateful OPNsense firewall-appliance als primaire gateway tussen het WAN en het afgeschermde interne LAN-netwerk.</a:t>
            </a:r>
            <a:endParaRPr/>
          </a:p>
        </p:txBody>
      </p:sp>
      <p:pic>
        <p:nvPicPr>
          <p:cNvPr id="178" name="Google Shape;17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2694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819150" y="3417540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 Mapping: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Handmatige toewijzing van de hypervisor virtuele NIC's ( voor WAN via NAT, voor het LAN).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819150" y="3989040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Beheer: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Veilige CLI-initialisatie en daaropvolgend beheer via de webinterface over HTTPS.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819150" y="4560540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DHCP Bypass: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Bewust uitgeschakeld op OPNsense om IP-beheer over te laten aan de Active Directory Domain Controller.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581025" y="34175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581025" y="39890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581025" y="45605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Perimeterbeveiliging &amp; OPNsense</a:t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543204-49B7-EAB1-F1DA-9C5C76B9E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739" y="2707955"/>
            <a:ext cx="4865193" cy="1876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93565"/>
            <a:ext cx="53244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93565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876300" y="2388840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Engine &amp; </a:t>
            </a:r>
            <a:r>
              <a:rPr lang="en-US" sz="1650" b="0" i="0" u="none" strike="noStrike" cap="none" dirty="0" err="1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Optimalisatie</a:t>
            </a:r>
            <a:endParaRPr dirty="0"/>
          </a:p>
        </p:txBody>
      </p:sp>
      <p:sp>
        <p:nvSpPr>
          <p:cNvPr id="197" name="Google Shape;197;p17"/>
          <p:cNvSpPr txBox="1"/>
          <p:nvPr/>
        </p:nvSpPr>
        <p:spPr>
          <a:xfrm>
            <a:off x="876300" y="2807940"/>
            <a:ext cx="47339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Native </a:t>
            </a:r>
            <a:r>
              <a:rPr lang="en-US" sz="1200" b="1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van de Suricata-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gebaseerde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IDS/IPS-engine op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OPNsense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om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kwaadaardig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netwerkverkeer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live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scannen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98" name="Google Shape;198;p17"/>
          <p:cNvSpPr txBox="1"/>
          <p:nvPr/>
        </p:nvSpPr>
        <p:spPr>
          <a:xfrm>
            <a:off x="6581775" y="2388840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Custom Recon Detectie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581775" y="2807940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Niet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enkel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vertrouwd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standaard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ET rulesets, maar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ook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eigen Suricata-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handtekening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ontwikkeld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om stealth port scans op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vangen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200" name="Google Shape;200;p17"/>
          <p:cNvSpPr txBox="1"/>
          <p:nvPr/>
        </p:nvSpPr>
        <p:spPr>
          <a:xfrm>
            <a:off x="6581775" y="3646140"/>
            <a:ext cx="4733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 </a:t>
            </a:r>
            <a:r>
              <a:rPr lang="en-US" sz="1200" b="1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Detectie</a:t>
            </a:r>
            <a:r>
              <a:rPr lang="en-US" sz="1200" b="1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-Regel:</a:t>
            </a:r>
            <a:endParaRPr dirty="0"/>
          </a:p>
        </p:txBody>
      </p:sp>
      <p:pic>
        <p:nvPicPr>
          <p:cNvPr id="201" name="Google Shape;20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4027140"/>
            <a:ext cx="4733925" cy="433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42694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1114425" y="341754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Offloading: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Uitgeschakeld om diepe pakketinspectie (DPI) betrouwbaar te laten werken.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114425" y="398904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Hyperscan Algoritme: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Geactiveerd om de pattern-matching efficiënt over moderne CPU-architecturen te verdelen.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1114425" y="456054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 Scope: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Toegewezen aan het scannen van het subnet .</a:t>
            </a:r>
            <a:endParaRPr/>
          </a:p>
        </p:txBody>
      </p:sp>
      <p:pic>
        <p:nvPicPr>
          <p:cNvPr id="207" name="Google Shape;20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242694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4603998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0169" y="4560540"/>
            <a:ext cx="45339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876300" y="34175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876300" y="39890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876300" y="45605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id="213" name="Google Shape;213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14425" y="4808190"/>
            <a:ext cx="12573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Intrusion Detection &amp; Suricata</a:t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723900" y="581025"/>
            <a:ext cx="504063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Transparante Proxy &amp; Filtering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581025" y="581025"/>
            <a:ext cx="47625" cy="7542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581025" y="2072580"/>
            <a:ext cx="51906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Squid &amp; SquidGuard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581025" y="2605980"/>
            <a:ext cx="49434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Implementatie van een HTTPS-proxy voor webfiltering en caching, om ongewenste of onveilige domeinen te blokkeren zonder client-side proxy-configuratie.</a:t>
            </a:r>
            <a:endParaRPr/>
          </a:p>
        </p:txBody>
      </p:sp>
      <p:pic>
        <p:nvPicPr>
          <p:cNvPr id="226" name="Google Shape;22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1068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819150" y="3558480"/>
            <a:ext cx="47053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SSL Interception: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Genereren van een intern, zelfondertekend root-certificaat (CA) en handmatige installatie in de Windows 10 "Trusted Root Stores".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819150" y="4358580"/>
            <a:ext cx="4705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SSL Bumping: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Gevoelig verkeer (zoals online bankieren) wordt via "No Bump Sites" genegeerd om de privacy te waarborgen.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819150" y="4930080"/>
            <a:ext cx="47053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Firewall Hardening: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LAN-egress regels ingericht om directe poort 80/443 verzoeken die de proxy probeerden te omzeilen te blokkeren.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581025" y="355848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581025" y="435858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581025" y="493008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id="2" name="Picture 1" descr="Packet Filter Firewall and Application Level Gateway - GeeksforGeeks">
            <a:extLst>
              <a:ext uri="{FF2B5EF4-FFF2-40B4-BE49-F238E27FC236}">
                <a16:creationId xmlns:a16="http://schemas.microsoft.com/office/drawing/2014/main" id="{528568ED-FECB-FDFF-9241-B226A8BD1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2682778"/>
            <a:ext cx="5518135" cy="26249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41177"/>
            <a:ext cx="35178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041177"/>
            <a:ext cx="35178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041177"/>
            <a:ext cx="35178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228882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828675" y="3003202"/>
            <a:ext cx="31736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CARP Cluster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828675" y="3536602"/>
            <a:ext cx="30225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CARP (Common Address Redundancy Protocol) creëert zwevende, virtuele gateway IP-adressen (VIP's) op zowel LAN als WAN interfaces.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828675" y="4698652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Master Skew: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0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Backup Skew: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100</a:t>
            </a:r>
            <a:endParaRPr/>
          </a:p>
        </p:txBody>
      </p:sp>
      <p:pic>
        <p:nvPicPr>
          <p:cNvPr id="245" name="Google Shape;24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4650" y="228882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4584650" y="3003202"/>
            <a:ext cx="31736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Replicatie (pfSync)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4584650" y="3536602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Activeert real-time state synchronization via een dedicated fysieke sync-interface.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4584650" y="4470052"/>
            <a:ext cx="30225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Zorgt ervoor dat actieve verbindingen en sessietabellen bij een failover-event niet wegvallen.</a:t>
            </a:r>
            <a:endParaRPr/>
          </a:p>
        </p:txBody>
      </p:sp>
      <p:pic>
        <p:nvPicPr>
          <p:cNvPr id="249" name="Google Shape;24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0625" y="228882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/>
          <p:nvPr/>
        </p:nvSpPr>
        <p:spPr>
          <a:xfrm>
            <a:off x="8340625" y="3003202"/>
            <a:ext cx="31736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Config Sync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8340625" y="3536602"/>
            <a:ext cx="30225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XML-RPC synchroniseert alle firewallregels, certificaten en instellingen automatisch van de Master naar de Backup firewall.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8340625" y="4698652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Altijd een identiek security-niveau op beide nodes.</a:t>
            </a:r>
            <a:endParaRPr/>
          </a:p>
        </p:txBody>
      </p:sp>
      <p:pic>
        <p:nvPicPr>
          <p:cNvPr id="253" name="Google Shape;25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0112" y="240312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98950" y="240312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97788" y="2403127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Firewall High Availability (HA)</a:t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50715"/>
            <a:ext cx="532447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50715"/>
            <a:ext cx="532447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876300" y="2445990"/>
            <a:ext cx="497062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 WAN-Link </a:t>
            </a:r>
            <a:r>
              <a:rPr lang="en-US" sz="1650" b="0" i="0" u="none" strike="noStrike" cap="none" dirty="0" err="1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Redundantie</a:t>
            </a:r>
            <a:endParaRPr dirty="0"/>
          </a:p>
        </p:txBody>
      </p:sp>
      <p:sp>
        <p:nvSpPr>
          <p:cNvPr id="266" name="Google Shape;266;p20"/>
          <p:cNvSpPr txBox="1"/>
          <p:nvPr/>
        </p:nvSpPr>
        <p:spPr>
          <a:xfrm>
            <a:off x="876300" y="2865090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 absolute uptime te garanderen bij storingen van een ISP, is een Multi-WAN setup gerealiseerd met twee gesimuleerde internetverbindingen.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6581775" y="2445990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Actieve Monitoring &amp; Failover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581775" y="2865090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OPNsense pingt continu betrouwbare externe IP's (zoals DNS-servers van Google) via ICMP om de link-stabiliteit en latency te meten.</a:t>
            </a:r>
            <a:endParaRPr/>
          </a:p>
        </p:txBody>
      </p:sp>
      <p:pic>
        <p:nvPicPr>
          <p:cNvPr id="269" name="Google Shape;26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48409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/>
        </p:nvSpPr>
        <p:spPr>
          <a:xfrm>
            <a:off x="1114425" y="370329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Multi-ISP </a:t>
            </a:r>
            <a:r>
              <a:rPr lang="en-US" sz="1200" b="1" i="0" u="none" strike="noStrike" cap="none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Virtualisatie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Twee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gescheiden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NAT-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netwerken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 de hypervisor ( &amp; ).</a:t>
            </a:r>
            <a:endParaRPr dirty="0"/>
          </a:p>
        </p:txBody>
      </p:sp>
      <p:sp>
        <p:nvSpPr>
          <p:cNvPr id="271" name="Google Shape;271;p20"/>
          <p:cNvSpPr txBox="1"/>
          <p:nvPr/>
        </p:nvSpPr>
        <p:spPr>
          <a:xfrm>
            <a:off x="1114425" y="427479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Gateway Groups: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Logische bundeling waarin de primaire ISP is ingesteld als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Tier 1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de back-up ISP als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Tier 2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id="272" name="Google Shape;27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48409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0"/>
          <p:cNvSpPr txBox="1"/>
          <p:nvPr/>
        </p:nvSpPr>
        <p:spPr>
          <a:xfrm>
            <a:off x="6819900" y="3703290"/>
            <a:ext cx="449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Route Switching: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Bij 100% pakketverlies op de primaire verbinding past de routing-engine on-the-fly de default gateways aan.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6819900" y="450339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Validatie: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Succesvol getest met tijdens het fysiek ontkoppelen van de WAN1-kabel.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876300" y="370329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id="276" name="Google Shape;27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06745" y="4015680"/>
            <a:ext cx="9525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05225" y="4000500"/>
            <a:ext cx="9525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0"/>
          <p:cNvSpPr txBox="1"/>
          <p:nvPr/>
        </p:nvSpPr>
        <p:spPr>
          <a:xfrm>
            <a:off x="876300" y="427479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6581775" y="370329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6581775" y="450339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id="281" name="Google Shape;28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72575" y="4522440"/>
            <a:ext cx="8763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0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Multi-WAN &amp; Dynamic Routing</a:t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74540"/>
            <a:ext cx="110299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1"/>
          <p:cNvSpPr txBox="1"/>
          <p:nvPr/>
        </p:nvSpPr>
        <p:spPr>
          <a:xfrm>
            <a:off x="581025" y="2388840"/>
            <a:ext cx="559069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Layer 7 Visibiliteit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581025" y="2807940"/>
            <a:ext cx="53244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Migratie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van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traditionele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port-based blocking (Layer 4)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naar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geavanceerde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applicatie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-aware filtering (Layer 7) met </a:t>
            </a:r>
            <a:r>
              <a:rPr lang="en-US" sz="11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Zenarmor</a:t>
            </a:r>
            <a:r>
              <a:rPr lang="en-US" sz="11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(Sensei).</a:t>
            </a:r>
            <a:endParaRPr sz="1200" dirty="0"/>
          </a:p>
        </p:txBody>
      </p:sp>
      <p:pic>
        <p:nvPicPr>
          <p:cNvPr id="292" name="Google Shape;2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2694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819150" y="3417540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Packet Inspection: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Blokkeert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omzeilingspogingen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van clients (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bijvoorbeeld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proxies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anonieme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VPN's).</a:t>
            </a:r>
            <a:endParaRPr dirty="0"/>
          </a:p>
        </p:txBody>
      </p:sp>
      <p:sp>
        <p:nvSpPr>
          <p:cNvPr id="294" name="Google Shape;294;p21"/>
          <p:cNvSpPr txBox="1"/>
          <p:nvPr/>
        </p:nvSpPr>
        <p:spPr>
          <a:xfrm>
            <a:off x="819150" y="3989040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Threat Intelligence: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Directe verbinding met real-time feeds om malware, spam en phishing proactief aan de rand te stoppen.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819150" y="4560540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Elasticsearch Integration: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met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lokale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database om de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grote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hoeveelheden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inspectie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-logs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efficiënt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parsen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296" name="Google Shape;296;p21"/>
          <p:cNvSpPr txBox="1"/>
          <p:nvPr/>
        </p:nvSpPr>
        <p:spPr>
          <a:xfrm>
            <a:off x="581025" y="34175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dirty="0"/>
          </a:p>
        </p:txBody>
      </p:sp>
      <p:sp>
        <p:nvSpPr>
          <p:cNvPr id="297" name="Google Shape;297;p21"/>
          <p:cNvSpPr txBox="1"/>
          <p:nvPr/>
        </p:nvSpPr>
        <p:spPr>
          <a:xfrm>
            <a:off x="581025" y="39890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581025" y="45605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Next-Gen DPI met Zenarmor</a:t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9262" y="2236440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7837" y="2265015"/>
            <a:ext cx="299085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2"/>
          <p:cNvSpPr txBox="1"/>
          <p:nvPr/>
        </p:nvSpPr>
        <p:spPr>
          <a:xfrm>
            <a:off x="6286500" y="2274540"/>
            <a:ext cx="559069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Centralized Security Log Monitoring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6286500" y="2693640"/>
            <a:ext cx="53244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Uitrol van een gecentraliseerd logbeheer- en SIEM-platform met de Wazuh Open Source Security-appliance om endpoint telemetry te correleren.</a:t>
            </a:r>
            <a:endParaRPr/>
          </a:p>
        </p:txBody>
      </p:sp>
      <p:pic>
        <p:nvPicPr>
          <p:cNvPr id="310" name="Google Shape;31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31264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/>
        </p:nvSpPr>
        <p:spPr>
          <a:xfrm>
            <a:off x="6524625" y="3531840"/>
            <a:ext cx="50863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Static Configuration: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Server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gehardcoded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statisch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IP om logs            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                     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consistent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ontvangen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312" name="Google Shape;312;p22"/>
          <p:cNvSpPr txBox="1"/>
          <p:nvPr/>
        </p:nvSpPr>
        <p:spPr>
          <a:xfrm>
            <a:off x="6524625" y="4103340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XDR Agents: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Cross-platform agents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uitgerold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 Windows 10 (via elevated PowerShell)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Ubuntu Linux (via bash deployment script).</a:t>
            </a:r>
            <a:endParaRPr dirty="0"/>
          </a:p>
        </p:txBody>
      </p:sp>
      <p:sp>
        <p:nvSpPr>
          <p:cNvPr id="313" name="Google Shape;313;p22"/>
          <p:cNvSpPr txBox="1"/>
          <p:nvPr/>
        </p:nvSpPr>
        <p:spPr>
          <a:xfrm>
            <a:off x="6524625" y="4674840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Telemetry &amp; FIM: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Live monitoring van File Integrity (FIM), ransomware-indicatoren (IoC's) en log-events.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6286500" y="35318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pic>
        <p:nvPicPr>
          <p:cNvPr id="315" name="Google Shape;31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96050" y="3876288"/>
            <a:ext cx="1028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 txBox="1"/>
          <p:nvPr/>
        </p:nvSpPr>
        <p:spPr>
          <a:xfrm>
            <a:off x="6286500" y="41033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6286500" y="467484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 Fundament &amp; Wazuh SIEM</a:t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69765"/>
            <a:ext cx="35178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169765"/>
            <a:ext cx="35178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169765"/>
            <a:ext cx="35178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241741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3"/>
          <p:cNvSpPr txBox="1"/>
          <p:nvPr/>
        </p:nvSpPr>
        <p:spPr>
          <a:xfrm>
            <a:off x="828675" y="3131790"/>
            <a:ext cx="31736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Docker &amp; Storage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828675" y="3665190"/>
            <a:ext cx="3022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Een volledige microservices-architectuur uitgerold op Ubuntu 20.04.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828675" y="4370040"/>
            <a:ext cx="30225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Persistent volumes overkomen Docker's tijdelijke aard; Cassandra, MySQL en Redis slaan data op.</a:t>
            </a:r>
            <a:endParaRPr/>
          </a:p>
        </p:txBody>
      </p:sp>
      <p:pic>
        <p:nvPicPr>
          <p:cNvPr id="332" name="Google Shape;33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4650" y="241741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/>
        </p:nvSpPr>
        <p:spPr>
          <a:xfrm>
            <a:off x="4584650" y="3131790"/>
            <a:ext cx="31736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TheHive Case Control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4584650" y="3665190"/>
            <a:ext cx="3022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centrale interface voor incident response en tickets.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4584650" y="4370040"/>
            <a:ext cx="30225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Gekoppeld met MISP en Cortex via RESTful API's om verdacht verkeer direct te registreren en analyseren.</a:t>
            </a:r>
            <a:endParaRPr/>
          </a:p>
        </p:txBody>
      </p:sp>
      <p:pic>
        <p:nvPicPr>
          <p:cNvPr id="336" name="Google Shape;336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0625" y="241741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 txBox="1"/>
          <p:nvPr/>
        </p:nvSpPr>
        <p:spPr>
          <a:xfrm>
            <a:off x="8340625" y="3131790"/>
            <a:ext cx="31736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API Handshakes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8340625" y="3665190"/>
            <a:ext cx="3022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Validatie in het dashboard bevestigt dat alle API-sleutels correct synchroniseren.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8340625" y="4370040"/>
            <a:ext cx="30225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MISP levert threat intelligence, Cortex analyseert file hashes, en TheHive orkestreert cases.</a:t>
            </a:r>
            <a:endParaRPr/>
          </a:p>
        </p:txBody>
      </p:sp>
      <p:pic>
        <p:nvPicPr>
          <p:cNvPr id="340" name="Google Shape;340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9162" y="253171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98950" y="253171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12063" y="253171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3"/>
          <p:cNvSpPr txBox="1"/>
          <p:nvPr/>
        </p:nvSpPr>
        <p:spPr>
          <a:xfrm>
            <a:off x="723900" y="485775"/>
            <a:ext cx="11431428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Incident Response &amp; Containers</a:t>
            </a:r>
            <a:endParaRPr/>
          </a:p>
        </p:txBody>
      </p:sp>
      <p:sp>
        <p:nvSpPr>
          <p:cNvPr id="344" name="Google Shape;344;p23"/>
          <p:cNvSpPr/>
          <p:nvPr/>
        </p:nvSpPr>
        <p:spPr>
          <a:xfrm>
            <a:off x="581025" y="485775"/>
            <a:ext cx="47625" cy="3771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4"/>
          <p:cNvSpPr txBox="1"/>
          <p:nvPr/>
        </p:nvSpPr>
        <p:spPr>
          <a:xfrm>
            <a:off x="2595562" y="1909762"/>
            <a:ext cx="700087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Vragen &amp; Discussie</a:t>
            </a:r>
            <a:endParaRPr/>
          </a:p>
        </p:txBody>
      </p:sp>
      <p:sp>
        <p:nvSpPr>
          <p:cNvPr id="351" name="Google Shape;351;p24"/>
          <p:cNvSpPr txBox="1"/>
          <p:nvPr/>
        </p:nvSpPr>
        <p:spPr>
          <a:xfrm>
            <a:off x="2762250" y="2662237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Bedankt voor uw aandacht. Het virtual lab is volledig operationeel en gedocumenteerd.</a:t>
            </a:r>
            <a:endParaRPr/>
          </a:p>
        </p:txBody>
      </p:sp>
      <p:pic>
        <p:nvPicPr>
          <p:cNvPr id="352" name="Google Shape;35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4650" y="36718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3286124" y="3614737"/>
            <a:ext cx="245405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3F4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E-</a:t>
            </a:r>
            <a:r>
              <a:rPr lang="en-US" sz="1050" b="1" i="0" u="none" strike="noStrike" cap="none" dirty="0" err="1">
                <a:solidFill>
                  <a:srgbClr val="F3F4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mailadres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isaacstrypens@outlook.com</a:t>
            </a:r>
            <a:endParaRPr dirty="0"/>
          </a:p>
        </p:txBody>
      </p:sp>
      <p:pic>
        <p:nvPicPr>
          <p:cNvPr id="354" name="Google Shape;35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36718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4"/>
          <p:cNvSpPr txBox="1"/>
          <p:nvPr/>
        </p:nvSpPr>
        <p:spPr>
          <a:xfrm>
            <a:off x="6686550" y="3614737"/>
            <a:ext cx="155110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3F4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 err="1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isaac-strypens</a:t>
            </a:r>
            <a:endParaRPr dirty="0"/>
          </a:p>
        </p:txBody>
      </p:sp>
      <p:pic>
        <p:nvPicPr>
          <p:cNvPr id="356" name="Google Shape;35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14650" y="4510087"/>
            <a:ext cx="219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4"/>
          <p:cNvSpPr txBox="1"/>
          <p:nvPr/>
        </p:nvSpPr>
        <p:spPr>
          <a:xfrm>
            <a:off x="3276600" y="4452937"/>
            <a:ext cx="21695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3F4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 Repository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 err="1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TheNewtonShow</a:t>
            </a:r>
            <a:endParaRPr dirty="0"/>
          </a:p>
        </p:txBody>
      </p:sp>
      <p:pic>
        <p:nvPicPr>
          <p:cNvPr id="358" name="Google Shape;358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3650" y="45100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 txBox="1"/>
          <p:nvPr/>
        </p:nvSpPr>
        <p:spPr>
          <a:xfrm>
            <a:off x="6715124" y="4452937"/>
            <a:ext cx="18447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3F4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 Gateway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10.200.200.254 /24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1030</Words>
  <Application>Microsoft Office PowerPoint</Application>
  <PresentationFormat>Widescreen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Plus Jakarta Sans SemiBold</vt:lpstr>
      <vt:lpstr>Arial</vt:lpstr>
      <vt:lpstr>Plus Jakarta Sans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IsaacB</dc:creator>
  <cp:lastModifiedBy>Isaac Strypens</cp:lastModifiedBy>
  <cp:revision>2</cp:revision>
  <dcterms:modified xsi:type="dcterms:W3CDTF">2026-06-17T09:48:49Z</dcterms:modified>
</cp:coreProperties>
</file>